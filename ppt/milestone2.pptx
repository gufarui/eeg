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de-DE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3F578CA-8DF3-4D0F-BAC6-09C7E8FA2ED7}" type="slidenum"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mit Überschrif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de-DE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Zweite Ebene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Dritte Ebene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Vierte Ebene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Fünfte Ebene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B35B932-1B99-47C2-873F-FC2B77C575D0}" type="slidenum"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ld mit Überschrif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de-DE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de-DE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de-DE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de-DE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de-DE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de-DE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de-DE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3BC1D4B-70C4-4FDA-9381-4E74A01779DF}" type="slidenum"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el und vertikaler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de-DE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Zweite Ebene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Dritte Ebene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Vierte Ebene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Fünfte Ebene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075C03D-268F-48D6-8BBA-48BCDFAC229F}" type="slidenum"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kaler Titel u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360" cy="581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de-DE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520" cy="581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Zweite Ebene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Dritte Ebene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Vierte Ebene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Fünfte Ebene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3B6009E-BD3A-4ED7-A69A-6F2D2B080CBA}" type="slidenum"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el und 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de-DE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Zweite Ebene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Dritte Ebene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Vierte Ebene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Fünfte Ebene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36DD3E6-5766-4AE3-8ED4-266055B19D02}" type="slidenum"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schnitts-&#10;überschrif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de-DE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de-DE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Mastertextformat bearbeiten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A7CE12E-F0F5-4C4B-81A8-B35FFC62856A}" type="slidenum"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Zwei Inhal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de-DE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Zweite Ebene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Dritte Ebene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Vierte Ebene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Fünfte Ebene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Zweite Ebene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Dritte Ebene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Vierte Ebene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Fünfte Ebene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7B08037-4432-4045-BCD5-02C6B261B6A1}" type="slidenum"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ergleic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de-DE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000" cy="82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de-DE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000" cy="368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Zweite Ebene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Dritte Ebene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Vierte Ebene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Fünfte Ebene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560" cy="82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de-DE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560" cy="368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Zweite Ebene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Dritte Ebene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Vierte Ebene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Fünfte Ebene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7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8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383D731-440B-46E8-A7E8-BA45C0E9D149}" type="slidenum"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Nur 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de-DE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A00D46B-2059-4852-B65D-F496ABF28C89}" type="slidenum"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e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B1D8590-D1CE-4825-B7D3-DFCED247005B}" type="slidenum"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6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/>
          <p:nvPr/>
        </p:nvSpPr>
        <p:spPr>
          <a:xfrm>
            <a:off x="1143000" y="5029920"/>
            <a:ext cx="10288440" cy="1799640"/>
          </a:xfrm>
          <a:prstGeom prst="rect">
            <a:avLst/>
          </a:prstGeom>
          <a:solidFill>
            <a:srgbClr val="dddddd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55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5000" lnSpcReduction="9999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de-DE" sz="4400" strike="noStrike" u="none" cap="small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 Light"/>
              </a:rPr>
              <a:t>Milestone 2: Team „Strawbrainy“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pic>
        <p:nvPicPr>
          <p:cNvPr id="61" name="Grafik 6" descr=""/>
          <p:cNvPicPr/>
          <p:nvPr/>
        </p:nvPicPr>
        <p:blipFill>
          <a:blip r:embed="rId1"/>
          <a:stretch/>
        </p:blipFill>
        <p:spPr>
          <a:xfrm>
            <a:off x="9442440" y="55080"/>
            <a:ext cx="2489760" cy="161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Textfeld 7"/>
          <p:cNvSpPr/>
          <p:nvPr/>
        </p:nvSpPr>
        <p:spPr>
          <a:xfrm>
            <a:off x="924120" y="878760"/>
            <a:ext cx="87249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de-DE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Members:</a:t>
            </a: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Nina Neuron, Basti Brain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r>
              <a:rPr b="1" lang="de-DE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Dataset:</a:t>
            </a: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Gambling Task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feld 10"/>
          <p:cNvSpPr/>
          <p:nvPr/>
        </p:nvSpPr>
        <p:spPr>
          <a:xfrm>
            <a:off x="628560" y="1829520"/>
            <a:ext cx="39520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de-DE" sz="1800" strike="noStrike" u="none">
                <a:solidFill>
                  <a:schemeClr val="accent5">
                    <a:lumMod val="75000"/>
                  </a:schemeClr>
                </a:solidFill>
                <a:effectLst/>
                <a:uFillTx/>
                <a:latin typeface="Calibri"/>
              </a:rPr>
              <a:t>Main Research Question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4" name="Textfeld 16"/>
          <p:cNvSpPr/>
          <p:nvPr/>
        </p:nvSpPr>
        <p:spPr>
          <a:xfrm>
            <a:off x="6644160" y="2198520"/>
            <a:ext cx="4571280" cy="20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de-DE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Textfeld 19"/>
          <p:cNvSpPr/>
          <p:nvPr/>
        </p:nvSpPr>
        <p:spPr>
          <a:xfrm>
            <a:off x="820440" y="2190960"/>
            <a:ext cx="106110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Are we surprised differently, if our visual predictions were created by inferred (that is, internal) information?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66" name=""/>
          <p:cNvGraphicFramePr/>
          <p:nvPr/>
        </p:nvGraphicFramePr>
        <p:xfrm>
          <a:off x="1722240" y="3436560"/>
          <a:ext cx="5075280" cy="1281240"/>
        </p:xfrm>
        <a:graphic>
          <a:graphicData uri="http://schemas.openxmlformats.org/drawingml/2006/table">
            <a:tbl>
              <a:tblPr/>
              <a:tblGrid>
                <a:gridCol w="2008440"/>
                <a:gridCol w="3714840"/>
                <a:gridCol w="3533760"/>
              </a:tblGrid>
              <a:tr h="32040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1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Step</a:t>
                      </a:r>
                      <a:endParaRPr b="1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1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Authors</a:t>
                      </a:r>
                      <a:endParaRPr b="1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1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Strawbrainy</a:t>
                      </a:r>
                      <a:endParaRPr b="1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040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Bad Channels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Manual inspection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None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040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Filter 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&gt;5Hz &amp; &lt;20Hz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None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040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50Hz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Notch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Zapline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040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Artefacts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MARA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IC-Label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040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----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---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---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040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Averaging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mean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median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040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Baseline correction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-100 - 0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BSL regression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040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Statistic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T-test on ROI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Permutation tests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7" name=""/>
          <p:cNvSpPr txBox="1"/>
          <p:nvPr/>
        </p:nvSpPr>
        <p:spPr>
          <a:xfrm>
            <a:off x="4115520" y="6401520"/>
            <a:ext cx="4488120" cy="550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Analysis: fill in only as far as already possible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68" name=""/>
          <p:cNvSpPr txBox="1"/>
          <p:nvPr/>
        </p:nvSpPr>
        <p:spPr>
          <a:xfrm rot="20168400">
            <a:off x="925920" y="3341160"/>
            <a:ext cx="1828800" cy="320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Add more rows!!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rafik 1" descr=""/>
          <p:cNvPicPr/>
          <p:nvPr/>
        </p:nvPicPr>
        <p:blipFill>
          <a:blip r:embed="rId1"/>
          <a:stretch/>
        </p:blipFill>
        <p:spPr>
          <a:xfrm>
            <a:off x="9442440" y="55080"/>
            <a:ext cx="2489760" cy="161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Textfeld 3"/>
          <p:cNvSpPr/>
          <p:nvPr/>
        </p:nvSpPr>
        <p:spPr>
          <a:xfrm>
            <a:off x="457200" y="45720"/>
            <a:ext cx="3556440" cy="71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de-DE" sz="2600" strike="noStrike" u="none">
                <a:solidFill>
                  <a:schemeClr val="accent5">
                    <a:lumMod val="75000"/>
                  </a:schemeClr>
                </a:solidFill>
                <a:effectLst/>
                <a:uFillTx/>
                <a:latin typeface="Calibri"/>
              </a:rPr>
              <a:t>3. Data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r>
              <a:rPr b="0" lang="de-DE" sz="1500" strike="noStrike" u="none">
                <a:solidFill>
                  <a:srgbClr val="808080"/>
                </a:solidFill>
                <a:effectLst/>
                <a:uFillTx/>
                <a:latin typeface="Calibri"/>
              </a:rPr>
              <a:t>Show</a:t>
            </a:r>
            <a:r>
              <a:rPr b="0" lang="de-DE" sz="1400" strike="noStrike" u="none">
                <a:solidFill>
                  <a:srgbClr val="808080"/>
                </a:solidFill>
                <a:effectLst/>
                <a:uFillTx/>
                <a:latin typeface="Calibri"/>
              </a:rPr>
              <a:t> 1-3 subjects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feld 4"/>
          <p:cNvSpPr/>
          <p:nvPr/>
        </p:nvSpPr>
        <p:spPr>
          <a:xfrm>
            <a:off x="6644160" y="2198520"/>
            <a:ext cx="4571280" cy="20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endParaRPr b="0" lang="de-DE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2" name="Picture 1" descr=""/>
          <p:cNvPicPr/>
          <p:nvPr/>
        </p:nvPicPr>
        <p:blipFill>
          <a:blip r:embed="rId2"/>
          <a:stretch/>
        </p:blipFill>
        <p:spPr>
          <a:xfrm>
            <a:off x="1644480" y="1455480"/>
            <a:ext cx="9808560" cy="5397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Collabora_Office/25.04.5.3$Linux_X86_64 LibreOffice_project/00041882939fb83f589c854ffa5a28db90f399ca</Application>
  <AppVersion>15.0000</AppVersion>
  <Words>103</Words>
  <Paragraphs>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2025-10-09T12:23:50Z</dcterms:created>
  <dc:creator>Benedikt Ehinger</dc:creator>
  <dc:description/>
  <dc:language>en-US</dc:language>
  <cp:lastModifiedBy/>
  <dcterms:modified xsi:type="dcterms:W3CDTF">2025-11-12T16:49:12Z</dcterms:modified>
  <cp:revision>49</cp:revision>
  <dc:subject/>
  <dc:title>Milestone 1: Team „Strawbrainy“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</vt:i4>
  </property>
</Properties>
</file>